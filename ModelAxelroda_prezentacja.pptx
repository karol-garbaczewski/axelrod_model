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9" r:id="rId4"/>
    <p:sldId id="261" r:id="rId5"/>
    <p:sldId id="268" r:id="rId6"/>
    <p:sldId id="279" r:id="rId7"/>
    <p:sldId id="280" r:id="rId8"/>
    <p:sldId id="281" r:id="rId9"/>
    <p:sldId id="282" r:id="rId10"/>
    <p:sldId id="263" r:id="rId11"/>
    <p:sldId id="278" r:id="rId12"/>
    <p:sldId id="271" r:id="rId13"/>
    <p:sldId id="265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10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52AF3FC-DD1C-D815-7D86-053597E066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31032FA-52CB-F334-83FE-1093106EB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17E1DB6-F753-E8D4-C5DB-25C1A28FA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125A9F6-6137-4468-BE34-70345CC8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EFF4272-F6B2-2F23-139A-3D70FB6E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49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DA6CFA-54F0-38E6-9E16-0F3241D7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2B3DEB9-85FD-92ED-143D-F003E2FB8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7C19C32-7D3B-36E2-BEC5-7D7F2A84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FFF289F-86F3-CD2D-A8D2-1BC31A72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79235BE-2E29-7387-9AF2-29F773E7A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00C948-B004-D1DD-FC3E-413B33BDB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ECE98ED-262B-0D46-6B0B-83DC79C3D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922417F-2BB2-E53A-D1AE-75510797C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FDBE0ED-936E-DCF2-A906-7DC9F4DA2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BE080ED-8999-EC30-BD02-B9E83CFC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43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699E7C0-2976-C782-F344-F6505EDC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77D221-2C54-678C-51D1-700B123C9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2773BBC-4FF0-4E86-253A-B92D2B52A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F0442DB-76EB-B22C-C438-4790F7B96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16C122A-D327-C1CD-D580-39A7A763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46F5E03-69D3-58B9-DC94-B205AF07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D6B96B-559D-9CE0-9CE1-FEB831E9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AF2A9F8-21E9-8A1D-A725-D747C9ED4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E92A021-98C4-8D73-A700-05112582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FD385095-9686-17D5-76A6-C359C1997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C7912A52-B18A-FAFA-5E1B-9C144AA5F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26F563D0-5DAE-F088-2D79-0475BF530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474AB2A0-5864-FCC8-8739-5953322F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6F3761CB-7692-8B84-5D8E-3EE131EE2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85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81AFCE-130E-3CF3-D910-91A89280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059D1017-CC4E-E8F8-A7ED-5D393F727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91BD64F1-8103-D1A3-B07C-C05DDE97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E7A215F-E033-EC3B-58D1-08F6B795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21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DBADC149-4029-A84C-7B99-A4F59589C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CA32CAD1-074E-7D2D-754E-48EBB8B1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DE6CE6-E866-AD8C-8A6D-B1EC0EEC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887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D9C65C-EE9C-29B6-54F5-102AA013C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7908FC-8DBC-26EC-121B-B1862AA0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2540585-CC2B-7A57-34C9-41FC743F9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EAB4A7CF-3A99-474A-19B6-F35C426E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E1E8786-68A7-902C-8431-0BD7CDB7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F6B0880-1A69-6C5B-BF02-34E43F8AD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82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6EE9D84-4468-BB66-0098-35B4B28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40737A9-1D66-0B95-5522-70E62B9D3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383D98D-D840-7727-DF7C-6B888FC9F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1291C90-26C8-9526-F957-FECC33390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666F3E54-4947-98FC-9002-5C4338A72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99E399D-D502-5004-324F-A4521933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4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A93266-048B-B13F-59E5-33371A53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8B6E445-1B3B-9921-8AFA-33B04BC0F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F1D13CA-E879-2307-1A84-E8F4B84B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19EEE6B-4752-F96E-C1E7-B2C2C428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6335C8-3FC0-DA5E-E05E-45D104EB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1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86C1959-9FA6-A263-5AFA-FFBA87D377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316182F-1F60-D442-8C91-125873F49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1A91C09-4D07-FA22-AF96-5C7C755E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323F027-B620-69CF-A2A7-F6EFD637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9C9325-3E27-4040-217D-26CE921B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59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E9C4B76-B74A-728C-FD6F-683DB264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799AE24-45BF-DEAA-DFA5-B997F4512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4732A75-8A21-DA3C-F89C-E7ABCBFC79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58760B-1F6E-D856-A979-0145518C1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11A96C0-2472-2A41-1D41-F0D7CC082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18B518-077D-A703-2C09-6E1BB112E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FD2526-CFD5-D00E-97AE-00368AD33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963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732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73D296-8A23-FD58-6805-873B5090C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153821"/>
            <a:ext cx="10515600" cy="2852737"/>
          </a:xfrm>
        </p:spPr>
        <p:txBody>
          <a:bodyPr/>
          <a:lstStyle/>
          <a:p>
            <a:r>
              <a:rPr lang="pl-PL" dirty="0"/>
              <a:t>Tło historyczne</a:t>
            </a:r>
            <a:endParaRPr lang="en-US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DA3936-6434-2E42-0EB6-4F0E766BA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006558"/>
            <a:ext cx="10515600" cy="1500187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Dlaczego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mimo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postępującej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asymilacji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ludzkość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nie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stała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się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jedną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monokulturą</a:t>
            </a:r>
            <a:r>
              <a:rPr lang="en-US" sz="28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68A5274-38C7-857A-15B4-0ECDB77D3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41652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98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B9FA55A-7DD7-233A-B840-DBC9DD82A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Konstrukcja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C4EEC-0CDC-4AD0-EAC2-BE5C8A087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b="1" dirty="0"/>
              <a:t>Stworzenie modelu</a:t>
            </a:r>
            <a:r>
              <a:rPr lang="pl-PL" dirty="0"/>
              <a:t>: budujemy macierz kwadratową, której elementy to agenci, wektory liczb interpretowane jako wektory cech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Losowanie</a:t>
            </a:r>
            <a:r>
              <a:rPr lang="en-US" dirty="0"/>
              <a:t>: </a:t>
            </a:r>
            <a:r>
              <a:rPr lang="pl-PL" dirty="0"/>
              <a:t>losowo wybieramy </a:t>
            </a:r>
            <a:r>
              <a:rPr lang="en-US" dirty="0" err="1"/>
              <a:t>aktywnego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jednego</a:t>
            </a:r>
            <a:r>
              <a:rPr lang="en-US" dirty="0"/>
              <a:t> z </a:t>
            </a:r>
            <a:r>
              <a:rPr lang="en-US" dirty="0" err="1"/>
              <a:t>jego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Prawdopodobieństwo</a:t>
            </a:r>
            <a:r>
              <a:rPr lang="en-US" b="1" dirty="0"/>
              <a:t> </a:t>
            </a:r>
            <a:r>
              <a:rPr lang="en-US" b="1" dirty="0" err="1"/>
              <a:t>interakcji</a:t>
            </a:r>
            <a:r>
              <a:rPr lang="en-US" dirty="0"/>
              <a:t>: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wejdą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w </a:t>
            </a:r>
            <a:r>
              <a:rPr lang="en-US" dirty="0" err="1"/>
              <a:t>zależności</a:t>
            </a:r>
            <a:r>
              <a:rPr lang="en-US" dirty="0"/>
              <a:t> </a:t>
            </a:r>
            <a:r>
              <a:rPr lang="pl-PL" dirty="0"/>
              <a:t> </a:t>
            </a:r>
            <a:r>
              <a:rPr lang="en-US" dirty="0"/>
              <a:t>od </a:t>
            </a:r>
            <a:r>
              <a:rPr lang="en-US" dirty="0" err="1"/>
              <a:t>aktualnego</a:t>
            </a:r>
            <a:r>
              <a:rPr lang="en-US" dirty="0"/>
              <a:t> </a:t>
            </a:r>
            <a:r>
              <a:rPr lang="en-US" dirty="0" err="1"/>
              <a:t>podobieństwa</a:t>
            </a:r>
            <a:r>
              <a:rPr lang="en-US" dirty="0"/>
              <a:t> </a:t>
            </a:r>
            <a:r>
              <a:rPr lang="en-US" dirty="0" err="1"/>
              <a:t>kulturowego</a:t>
            </a:r>
            <a:r>
              <a:rPr lang="pl-PL" dirty="0"/>
              <a:t>, </a:t>
            </a:r>
            <a:r>
              <a:rPr lang="en-US" dirty="0"/>
              <a:t>np. </a:t>
            </a:r>
            <a:r>
              <a:rPr lang="en-US" dirty="0" err="1"/>
              <a:t>dla</a:t>
            </a:r>
            <a:r>
              <a:rPr lang="en-US" dirty="0"/>
              <a:t> 3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5 </a:t>
            </a:r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wynosi</a:t>
            </a:r>
            <a:r>
              <a:rPr lang="en-US" dirty="0"/>
              <a:t> 60%, a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to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dochodzi</a:t>
            </a:r>
            <a:r>
              <a:rPr lang="en-US" dirty="0"/>
              <a:t> do </a:t>
            </a:r>
            <a:r>
              <a:rPr lang="en-US" dirty="0" err="1"/>
              <a:t>interakcji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Modyfikacja</a:t>
            </a:r>
            <a:r>
              <a:rPr lang="en-US" b="1" dirty="0"/>
              <a:t> </a:t>
            </a:r>
            <a:r>
              <a:rPr lang="en-US" b="1" dirty="0" err="1"/>
              <a:t>cechy</a:t>
            </a:r>
            <a:r>
              <a:rPr lang="en-US" b="1" dirty="0"/>
              <a:t>: </a:t>
            </a:r>
            <a:r>
              <a:rPr lang="en-US" dirty="0"/>
              <a:t>agent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przyjmuje</a:t>
            </a:r>
            <a:r>
              <a:rPr lang="en-US" dirty="0"/>
              <a:t> </a:t>
            </a:r>
            <a:r>
              <a:rPr lang="en-US" dirty="0" err="1"/>
              <a:t>jedną</a:t>
            </a:r>
            <a:r>
              <a:rPr lang="en-US" dirty="0"/>
              <a:t> </a:t>
            </a:r>
            <a:r>
              <a:rPr lang="en-US" dirty="0" err="1"/>
              <a:t>cechę</a:t>
            </a:r>
            <a:r>
              <a:rPr lang="en-US" dirty="0"/>
              <a:t> </a:t>
            </a:r>
            <a:r>
              <a:rPr lang="en-US" dirty="0" err="1"/>
              <a:t>sąsiada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zwiększa</a:t>
            </a:r>
            <a:r>
              <a:rPr lang="en-US" dirty="0"/>
              <a:t> </a:t>
            </a:r>
            <a:r>
              <a:rPr lang="en-US" dirty="0" err="1"/>
              <a:t>podobieństwo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7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6288A7-C2FF-EEAF-913F-879F9A7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Przebieg</a:t>
            </a:r>
            <a:r>
              <a:rPr lang="en-US" dirty="0"/>
              <a:t> </a:t>
            </a:r>
            <a:r>
              <a:rPr lang="en-US" dirty="0" err="1"/>
              <a:t>symulacji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17B2F8-4EF7-6C2B-E34A-76E8DFB21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Na </a:t>
            </a:r>
            <a:r>
              <a:rPr lang="en-US" dirty="0" err="1"/>
              <a:t>początku</a:t>
            </a:r>
            <a:r>
              <a:rPr lang="en-US" dirty="0"/>
              <a:t>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mają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przypisane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 </a:t>
            </a:r>
            <a:r>
              <a:rPr lang="en-US" dirty="0" err="1"/>
              <a:t>Większość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 ma ze </a:t>
            </a:r>
            <a:r>
              <a:rPr lang="en-US" dirty="0" err="1"/>
              <a:t>sobą</a:t>
            </a:r>
            <a:r>
              <a:rPr lang="en-US" dirty="0"/>
              <a:t> </a:t>
            </a:r>
            <a:r>
              <a:rPr lang="en-US" b="1" dirty="0" err="1"/>
              <a:t>bardzo</a:t>
            </a:r>
            <a:r>
              <a:rPr lang="en-US" b="1" dirty="0"/>
              <a:t> </a:t>
            </a:r>
            <a:r>
              <a:rPr lang="en-US" b="1" dirty="0" err="1"/>
              <a:t>mało</a:t>
            </a:r>
            <a:r>
              <a:rPr lang="en-US" b="1" dirty="0"/>
              <a:t> </a:t>
            </a:r>
            <a:r>
              <a:rPr lang="en-US" b="1" dirty="0" err="1"/>
              <a:t>wspólnego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dużo</a:t>
            </a:r>
            <a:r>
              <a:rPr lang="en-US" dirty="0"/>
              <a:t> </a:t>
            </a:r>
            <a:r>
              <a:rPr lang="en-US" dirty="0" err="1"/>
              <a:t>różnych</a:t>
            </a:r>
            <a:r>
              <a:rPr lang="en-US" dirty="0"/>
              <a:t> </a:t>
            </a:r>
            <a:r>
              <a:rPr lang="en-US" dirty="0" err="1"/>
              <a:t>kolorów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pl-PL" dirty="0"/>
              <a:t>następnym slajdzie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 W </a:t>
            </a:r>
            <a:r>
              <a:rPr lang="en-US" dirty="0" err="1"/>
              <a:t>miarę</a:t>
            </a:r>
            <a:r>
              <a:rPr lang="en-US" dirty="0"/>
              <a:t> </a:t>
            </a:r>
            <a:r>
              <a:rPr lang="en-US" dirty="0" err="1"/>
              <a:t>upływu</a:t>
            </a:r>
            <a:r>
              <a:rPr lang="en-US" dirty="0"/>
              <a:t> </a:t>
            </a:r>
            <a:r>
              <a:rPr lang="en-US" dirty="0" err="1"/>
              <a:t>czasu</a:t>
            </a:r>
            <a:r>
              <a:rPr lang="en-US" dirty="0"/>
              <a:t> (</a:t>
            </a:r>
            <a:r>
              <a:rPr lang="en-US" dirty="0" err="1"/>
              <a:t>zdarzeń</a:t>
            </a:r>
            <a:r>
              <a:rPr lang="en-US" dirty="0"/>
              <a:t>)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interakcje</a:t>
            </a:r>
            <a:r>
              <a:rPr lang="en-US" dirty="0"/>
              <a:t> </a:t>
            </a:r>
            <a:r>
              <a:rPr lang="en-US" dirty="0" err="1"/>
              <a:t>powodują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wspólne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 </a:t>
            </a:r>
            <a:r>
              <a:rPr lang="en-US" b="1" dirty="0" err="1"/>
              <a:t>rozprzestrzeniają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coraz</a:t>
            </a:r>
            <a:r>
              <a:rPr lang="en-US" b="1" dirty="0"/>
              <a:t> </a:t>
            </a:r>
            <a:r>
              <a:rPr lang="en-US" b="1" dirty="0" err="1"/>
              <a:t>większe</a:t>
            </a:r>
            <a:r>
              <a:rPr lang="en-US" b="1" dirty="0"/>
              <a:t> </a:t>
            </a:r>
            <a:r>
              <a:rPr lang="en-US" b="1" dirty="0" err="1"/>
              <a:t>obszary</a:t>
            </a:r>
            <a:r>
              <a:rPr lang="en-US" dirty="0"/>
              <a:t> (</a:t>
            </a:r>
            <a:r>
              <a:rPr lang="en-US" dirty="0" err="1"/>
              <a:t>regiony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Stan </a:t>
            </a:r>
            <a:r>
              <a:rPr lang="en-US" b="1" dirty="0" err="1"/>
              <a:t>stacjonarny</a:t>
            </a:r>
            <a:r>
              <a:rPr lang="en-US" b="1" dirty="0"/>
              <a:t>: </a:t>
            </a: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kończy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stabilizuje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żadna</a:t>
            </a:r>
            <a:r>
              <a:rPr lang="en-US" dirty="0"/>
              <a:t> para </a:t>
            </a:r>
            <a:r>
              <a:rPr lang="en-US" dirty="0" err="1"/>
              <a:t>sąsiadujących</a:t>
            </a:r>
            <a:r>
              <a:rPr lang="en-US" dirty="0"/>
              <a:t> </a:t>
            </a:r>
            <a:r>
              <a:rPr lang="en-US" dirty="0" err="1"/>
              <a:t>jednostek</a:t>
            </a:r>
            <a:r>
              <a:rPr lang="en-US" dirty="0"/>
              <a:t> 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już</a:t>
            </a:r>
            <a:r>
              <a:rPr lang="en-US" dirty="0"/>
              <a:t> </a:t>
            </a:r>
            <a:r>
              <a:rPr lang="en-US" dirty="0" err="1"/>
              <a:t>zmienić</a:t>
            </a:r>
            <a:r>
              <a:rPr lang="en-US" dirty="0"/>
              <a:t> </a:t>
            </a:r>
            <a:r>
              <a:rPr lang="en-US" dirty="0" err="1"/>
              <a:t>swojej</a:t>
            </a:r>
            <a:r>
              <a:rPr lang="en-US" dirty="0"/>
              <a:t> </a:t>
            </a:r>
            <a:r>
              <a:rPr lang="en-US" dirty="0" err="1"/>
              <a:t>kultury</a:t>
            </a:r>
            <a:r>
              <a:rPr lang="en-US" dirty="0"/>
              <a:t> (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identyczni</a:t>
            </a:r>
            <a:r>
              <a:rPr lang="en-US" dirty="0"/>
              <a:t> </a:t>
            </a:r>
            <a:r>
              <a:rPr lang="en-US" dirty="0" err="1"/>
              <a:t>albo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odmienni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Wynik</a:t>
            </a:r>
            <a:r>
              <a:rPr lang="en-US" b="1" dirty="0"/>
              <a:t> </a:t>
            </a:r>
            <a:r>
              <a:rPr lang="en-US" b="1" dirty="0" err="1"/>
              <a:t>końcowy</a:t>
            </a:r>
            <a:r>
              <a:rPr lang="en-US" b="1" dirty="0"/>
              <a:t> </a:t>
            </a:r>
            <a:r>
              <a:rPr lang="en-US" dirty="0"/>
              <a:t>to </a:t>
            </a:r>
            <a:r>
              <a:rPr lang="en-US" b="1" dirty="0" err="1"/>
              <a:t>globalna</a:t>
            </a:r>
            <a:r>
              <a:rPr lang="en-US" b="1" dirty="0"/>
              <a:t> </a:t>
            </a:r>
            <a:r>
              <a:rPr lang="en-US" b="1" dirty="0" err="1"/>
              <a:t>polaryzacja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kilka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odizolowanych</a:t>
            </a:r>
            <a:r>
              <a:rPr lang="en-US" dirty="0"/>
              <a:t> od </a:t>
            </a:r>
            <a:r>
              <a:rPr lang="en-US" dirty="0" err="1"/>
              <a:t>siebie</a:t>
            </a:r>
            <a:r>
              <a:rPr lang="en-US" dirty="0"/>
              <a:t>,  </a:t>
            </a:r>
            <a:r>
              <a:rPr lang="en-US" dirty="0" err="1"/>
              <a:t>stabilnych</a:t>
            </a:r>
            <a:r>
              <a:rPr lang="en-US" dirty="0"/>
              <a:t> </a:t>
            </a:r>
            <a:r>
              <a:rPr lang="en-US" dirty="0" err="1"/>
              <a:t>regionów</a:t>
            </a:r>
            <a:r>
              <a:rPr lang="en-US" dirty="0"/>
              <a:t> </a:t>
            </a:r>
            <a:r>
              <a:rPr lang="en-US" dirty="0" err="1"/>
              <a:t>kulturowych</a:t>
            </a:r>
            <a:r>
              <a:rPr lang="en-US" dirty="0"/>
              <a:t>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586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D3CB3F2C-B1F3-E809-0AE2-BC335BAD6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61"/>
          <a:stretch>
            <a:fillRect/>
          </a:stretch>
        </p:blipFill>
        <p:spPr>
          <a:xfrm>
            <a:off x="2261936" y="0"/>
            <a:ext cx="9673389" cy="6750022"/>
          </a:xfrm>
          <a:prstGeom prst="rect">
            <a:avLst/>
          </a:prstGeom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8DAC0634-F7D3-2AC5-5478-1014E6CD789D}"/>
              </a:ext>
            </a:extLst>
          </p:cNvPr>
          <p:cNvSpPr txBox="1"/>
          <p:nvPr/>
        </p:nvSpPr>
        <p:spPr>
          <a:xfrm>
            <a:off x="481262" y="4811616"/>
            <a:ext cx="3100138" cy="155427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</a:t>
            </a:r>
          </a:p>
          <a:p>
            <a:r>
              <a:rPr lang="pl-PL" sz="1900" dirty="0"/>
              <a:t>liczba wariantów: 6</a:t>
            </a:r>
          </a:p>
          <a:p>
            <a:r>
              <a:rPr lang="pl-PL" sz="1900" dirty="0"/>
              <a:t>długość boku siatki: 15</a:t>
            </a:r>
          </a:p>
          <a:p>
            <a:r>
              <a:rPr lang="pl-PL" sz="1900" dirty="0"/>
              <a:t>liczba iteracji: &lt;1mln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7FB32805-6F4F-BDDA-1811-5FDFEAF37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799" y="1037570"/>
            <a:ext cx="2418081" cy="298469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04838392-E671-208D-C04A-254AFF27D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1799" y="822960"/>
            <a:ext cx="2330692" cy="21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873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BD9F-7388-27B7-6E97-13AEFA7F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4693E866-FE5B-AD44-8FA5-3862CBAF09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536" y="76200"/>
            <a:ext cx="8940800" cy="670560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B774FEC-EBFA-B662-1372-7D093BD8B71A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&lt;300000</a:t>
            </a:r>
          </a:p>
        </p:txBody>
      </p:sp>
    </p:spTree>
    <p:extLst>
      <p:ext uri="{BB962C8B-B14F-4D97-AF65-F5344CB8AC3E}">
        <p14:creationId xmlns:p14="http://schemas.microsoft.com/office/powerpoint/2010/main" val="2455441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EEFD-4777-E5BE-A441-F2ED6C94E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8AA74A69-C74E-CA5A-4969-7D4FF901D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790" y="144378"/>
            <a:ext cx="8758990" cy="6569243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35EFD6F-418E-DEBF-4D57-0A479983EECB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&lt;400000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BD0C09B4-26CE-4575-BDA9-DE177BA3B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792" y="304800"/>
            <a:ext cx="3877218" cy="288364"/>
          </a:xfrm>
          <a:prstGeom prst="rect">
            <a:avLst/>
          </a:prstGeom>
        </p:spPr>
      </p:pic>
      <p:sp>
        <p:nvSpPr>
          <p:cNvPr id="7" name="pole tekstowe 6">
            <a:extLst>
              <a:ext uri="{FF2B5EF4-FFF2-40B4-BE49-F238E27FC236}">
                <a16:creationId xmlns:a16="http://schemas.microsoft.com/office/drawing/2014/main" id="{55926E9D-9C6D-461D-CA0A-C9934EBC198E}"/>
              </a:ext>
            </a:extLst>
          </p:cNvPr>
          <p:cNvSpPr txBox="1"/>
          <p:nvPr/>
        </p:nvSpPr>
        <p:spPr>
          <a:xfrm>
            <a:off x="3446284" y="288758"/>
            <a:ext cx="8288233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900" dirty="0"/>
              <a:t>Unormowana wielkość największego regionu w zależności od liczby wariantów</a:t>
            </a:r>
          </a:p>
        </p:txBody>
      </p:sp>
    </p:spTree>
    <p:extLst>
      <p:ext uri="{BB962C8B-B14F-4D97-AF65-F5344CB8AC3E}">
        <p14:creationId xmlns:p14="http://schemas.microsoft.com/office/powerpoint/2010/main" val="1244680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6A47C-9D1B-ADDB-C999-E46054B3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D1C94B36-4188-B57F-D942-9E288C45B2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000" y="244638"/>
            <a:ext cx="9794000" cy="612125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4E702975-534F-BD40-3DB2-DC29CD0460FD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liczba wariantów: 5</a:t>
            </a:r>
          </a:p>
          <a:p>
            <a:r>
              <a:rPr lang="pl-PL" sz="1900" dirty="0"/>
              <a:t>liczba iteracji: &lt;1mln</a:t>
            </a:r>
          </a:p>
        </p:txBody>
      </p:sp>
    </p:spTree>
    <p:extLst>
      <p:ext uri="{BB962C8B-B14F-4D97-AF65-F5344CB8AC3E}">
        <p14:creationId xmlns:p14="http://schemas.microsoft.com/office/powerpoint/2010/main" val="2773652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C778C-6913-9203-0009-771F46F93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0145A6B3-F51E-DF0E-0AF2-74CD15D5F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4263"/>
            <a:ext cx="12192000" cy="4876799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172743B8-D8F6-9E33-B65F-B2EE3D858D57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3, liczba wariantów: 6</a:t>
            </a:r>
          </a:p>
          <a:p>
            <a:r>
              <a:rPr lang="pl-PL" sz="1900" dirty="0"/>
              <a:t>długość boku siatki: 18,  liczba iteracji: 1mln</a:t>
            </a:r>
          </a:p>
        </p:txBody>
      </p:sp>
    </p:spTree>
    <p:extLst>
      <p:ext uri="{BB962C8B-B14F-4D97-AF65-F5344CB8AC3E}">
        <p14:creationId xmlns:p14="http://schemas.microsoft.com/office/powerpoint/2010/main" val="2513979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407CC0-3BB3-4563-A997-6BDBBB13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Rozszerzenie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A4F3297-7DD6-0EF4-82F1-773AB2F43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839201" cy="42222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3600" dirty="0"/>
              <a:t>Wprowadzamy nowe typy sąsiedztw: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Rozszerzone – zwiększamy sąsiedztwo o przekątne (z 4 wspólnych do 8).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Toroidalne – łączymy agentów na brzegach (za</a:t>
            </a:r>
            <a:r>
              <a:rPr lang="en-US" sz="3600" dirty="0" err="1"/>
              <a:t>wijamy</a:t>
            </a:r>
            <a:r>
              <a:rPr lang="en-US" sz="3600" dirty="0"/>
              <a:t> </a:t>
            </a:r>
            <a:r>
              <a:rPr lang="en-US" sz="3600" dirty="0" err="1"/>
              <a:t>siatkę</a:t>
            </a:r>
            <a:r>
              <a:rPr lang="en-US" sz="3600" dirty="0"/>
              <a:t> w </a:t>
            </a:r>
            <a:r>
              <a:rPr lang="en-US" sz="3600" dirty="0" err="1"/>
              <a:t>kształt</a:t>
            </a:r>
            <a:r>
              <a:rPr lang="en-US" sz="3600" dirty="0"/>
              <a:t> </a:t>
            </a:r>
            <a:r>
              <a:rPr lang="en-US" sz="3600" dirty="0" err="1"/>
              <a:t>torusa</a:t>
            </a:r>
            <a:r>
              <a:rPr lang="pl-PL" sz="3600" dirty="0"/>
              <a:t>), wy</a:t>
            </a:r>
            <a:r>
              <a:rPr lang="en-US" sz="3600" dirty="0" err="1"/>
              <a:t>równując</a:t>
            </a:r>
            <a:r>
              <a:rPr lang="en-US" sz="3600" dirty="0"/>
              <a:t> </a:t>
            </a:r>
            <a:r>
              <a:rPr lang="en-US" sz="3600" dirty="0" err="1"/>
              <a:t>szanse</a:t>
            </a:r>
            <a:r>
              <a:rPr lang="en-US" sz="3600" dirty="0"/>
              <a:t> </a:t>
            </a:r>
            <a:r>
              <a:rPr lang="en-US" sz="3600" dirty="0" err="1"/>
              <a:t>interakcj</a:t>
            </a:r>
            <a:r>
              <a:rPr lang="pl-PL" sz="3600" dirty="0"/>
              <a:t>i.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36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5D8E6B7-A676-19C9-FBC0-6F82629BC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941" y="3962400"/>
            <a:ext cx="3261175" cy="273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525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AB6D-D60C-623B-DF2D-F83D89D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B1180836-521C-4E00-E013-C85F79DFE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10" y="144379"/>
            <a:ext cx="12153890" cy="5064121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F5E76416-235D-E25C-30AC-483D5D255A56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2mln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D5815F6-BA71-98FE-D1B4-B0D71CC12B44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A</a:t>
            </a:r>
          </a:p>
        </p:txBody>
      </p:sp>
    </p:spTree>
    <p:extLst>
      <p:ext uri="{BB962C8B-B14F-4D97-AF65-F5344CB8AC3E}">
        <p14:creationId xmlns:p14="http://schemas.microsoft.com/office/powerpoint/2010/main" val="338881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97A5FA6D-A409-3767-1C9F-4EEC8B12B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7" y="144379"/>
            <a:ext cx="12166333" cy="5069305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75CDD93B-F121-21E0-1374-5C6EF0B1751B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1mln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30A3FC0-811A-7882-6409-E81F1253BC56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B</a:t>
            </a:r>
          </a:p>
        </p:txBody>
      </p:sp>
    </p:spTree>
    <p:extLst>
      <p:ext uri="{BB962C8B-B14F-4D97-AF65-F5344CB8AC3E}">
        <p14:creationId xmlns:p14="http://schemas.microsoft.com/office/powerpoint/2010/main" val="438986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58507E3-A492-ADE9-9CC9-39CA0FE7F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Rezultat rozszerzenia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2EC9DE-B8DC-3284-A196-82B0FE9D5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Więcej sąsiadów powoduje bardziej ekspansywną wymianę kulturową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Mniej sąsiadów sprzyja tworzeniu się odrębnych regionów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Dla większej liczby sąsiadów rośnie </a:t>
            </a:r>
            <a:r>
              <a:rPr lang="pl-PL" b="1" dirty="0"/>
              <a:t>konkurencja o dominację kulturową</a:t>
            </a:r>
            <a:r>
              <a:rPr lang="pl-PL" dirty="0"/>
              <a:t> z innymi agentami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Model toroidalny likwiduje możliwość łatwiejszego upodabniania się kultury na brzegach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463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B6157CB-37E3-1BAD-1464-BA515DC4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Wnioski końcowe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8976C9-4BCF-B715-7CBA-4FBC45D3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19" y="1499191"/>
            <a:ext cx="11206716" cy="5071730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 err="1"/>
              <a:t>Najważniejszy</a:t>
            </a:r>
            <a:r>
              <a:rPr lang="en-US" sz="12800" dirty="0"/>
              <a:t> </a:t>
            </a:r>
            <a:r>
              <a:rPr lang="en-US" sz="12800" dirty="0" err="1"/>
              <a:t>wniosek</a:t>
            </a:r>
            <a:r>
              <a:rPr lang="en-US" sz="12800" dirty="0"/>
              <a:t> </a:t>
            </a:r>
            <a:r>
              <a:rPr lang="en-US" sz="12800" dirty="0" err="1"/>
              <a:t>płynący</a:t>
            </a:r>
            <a:r>
              <a:rPr lang="en-US" sz="12800" dirty="0"/>
              <a:t> z </a:t>
            </a:r>
            <a:r>
              <a:rPr lang="en-US" sz="12800" dirty="0" err="1"/>
              <a:t>badań</a:t>
            </a:r>
            <a:r>
              <a:rPr lang="en-US" sz="12800" dirty="0"/>
              <a:t> </a:t>
            </a:r>
            <a:r>
              <a:rPr lang="en-US" sz="12800" dirty="0" err="1"/>
              <a:t>Axelroda</a:t>
            </a:r>
            <a:r>
              <a:rPr lang="en-US" sz="12800" dirty="0"/>
              <a:t> </a:t>
            </a:r>
            <a:r>
              <a:rPr lang="en-US" sz="12800" dirty="0" err="1"/>
              <a:t>wskazuje</a:t>
            </a:r>
            <a:r>
              <a:rPr lang="en-US" sz="12800" dirty="0"/>
              <a:t>, </a:t>
            </a:r>
            <a:r>
              <a:rPr lang="en-US" sz="12800" dirty="0" err="1"/>
              <a:t>że</a:t>
            </a:r>
            <a:r>
              <a:rPr lang="en-US" sz="12800" dirty="0"/>
              <a:t> </a:t>
            </a:r>
            <a:r>
              <a:rPr lang="en-US" sz="12800" b="1" dirty="0" err="1"/>
              <a:t>dążenie</a:t>
            </a:r>
            <a:r>
              <a:rPr lang="en-US" sz="12800" b="1" dirty="0"/>
              <a:t> do </a:t>
            </a:r>
            <a:r>
              <a:rPr lang="en-US" sz="12800" b="1" dirty="0" err="1"/>
              <a:t>lokalnego</a:t>
            </a:r>
            <a:r>
              <a:rPr lang="en-US" sz="12800" b="1" dirty="0"/>
              <a:t> </a:t>
            </a:r>
            <a:r>
              <a:rPr lang="en-US" sz="12800" b="1" dirty="0" err="1"/>
              <a:t>podobieństwa</a:t>
            </a:r>
            <a:r>
              <a:rPr lang="pl-PL" sz="12800" b="1" dirty="0"/>
              <a:t> </a:t>
            </a:r>
            <a:r>
              <a:rPr lang="en-US" sz="12800" dirty="0" err="1"/>
              <a:t>paradoksalnie</a:t>
            </a:r>
            <a:r>
              <a:rPr lang="en-US" sz="12800" dirty="0"/>
              <a:t> </a:t>
            </a:r>
            <a:r>
              <a:rPr lang="en-US" sz="12800" b="1" dirty="0" err="1"/>
              <a:t>uniemożliwia</a:t>
            </a:r>
            <a:r>
              <a:rPr lang="en-US" sz="12800" b="1" dirty="0"/>
              <a:t> </a:t>
            </a:r>
            <a:r>
              <a:rPr lang="en-US" sz="12800" b="1" dirty="0" err="1"/>
              <a:t>całkowite</a:t>
            </a:r>
            <a:r>
              <a:rPr lang="en-US" sz="12800" b="1" dirty="0"/>
              <a:t> </a:t>
            </a:r>
            <a:r>
              <a:rPr lang="en-US" sz="12800" b="1" dirty="0" err="1"/>
              <a:t>ujednolicenie</a:t>
            </a:r>
            <a:r>
              <a:rPr lang="en-US" sz="12800" b="1" dirty="0"/>
              <a:t> </a:t>
            </a:r>
            <a:r>
              <a:rPr lang="en-US" sz="12800" b="1" dirty="0" err="1"/>
              <a:t>całego</a:t>
            </a:r>
            <a:r>
              <a:rPr lang="en-US" sz="12800" b="1" dirty="0"/>
              <a:t> </a:t>
            </a:r>
            <a:r>
              <a:rPr lang="en-US" sz="12800" b="1" dirty="0" err="1"/>
              <a:t>społeczeństwa</a:t>
            </a:r>
            <a:r>
              <a:rPr lang="en-US" sz="12800" b="1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cementuje</a:t>
            </a:r>
            <a:r>
              <a:rPr lang="en-US" sz="12800" dirty="0"/>
              <a:t>  </a:t>
            </a:r>
            <a:r>
              <a:rPr lang="en-US" sz="12800" dirty="0" err="1"/>
              <a:t>trwałe</a:t>
            </a:r>
            <a:r>
              <a:rPr lang="en-US" sz="12800" dirty="0"/>
              <a:t> </a:t>
            </a:r>
            <a:r>
              <a:rPr lang="en-US" sz="12800" dirty="0" err="1"/>
              <a:t>podziały</a:t>
            </a:r>
            <a:r>
              <a:rPr lang="en-US" sz="12800" dirty="0"/>
              <a:t> </a:t>
            </a:r>
            <a:r>
              <a:rPr lang="en-US" sz="12800" dirty="0" err="1"/>
              <a:t>kulturowe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poziomie</a:t>
            </a:r>
            <a:r>
              <a:rPr lang="en-US" sz="12800" dirty="0"/>
              <a:t> </a:t>
            </a:r>
            <a:r>
              <a:rPr lang="en-US" sz="12800" dirty="0" err="1"/>
              <a:t>globalnym</a:t>
            </a:r>
            <a:r>
              <a:rPr lang="en-US" sz="12800" dirty="0"/>
              <a:t> (</a:t>
            </a:r>
            <a:r>
              <a:rPr lang="en-US" sz="12800" dirty="0" err="1"/>
              <a:t>wyspy</a:t>
            </a:r>
            <a:r>
              <a:rPr lang="en-US" sz="12800" dirty="0"/>
              <a:t> </a:t>
            </a:r>
            <a:r>
              <a:rPr lang="en-US" sz="12800" dirty="0" err="1"/>
              <a:t>wspólne</a:t>
            </a:r>
            <a:r>
              <a:rPr lang="en-US" sz="12800" dirty="0"/>
              <a:t> </a:t>
            </a:r>
            <a:r>
              <a:rPr lang="en-US" sz="12800" dirty="0" err="1"/>
              <a:t>kulturowo</a:t>
            </a:r>
            <a:r>
              <a:rPr lang="en-US" sz="12800" dirty="0"/>
              <a:t>).</a:t>
            </a:r>
            <a:br>
              <a:rPr lang="en-US" sz="12800" dirty="0"/>
            </a:br>
            <a:endParaRPr lang="en-US" sz="12800" dirty="0"/>
          </a:p>
          <a:p>
            <a:r>
              <a:rPr lang="en-US" sz="12800" dirty="0"/>
              <a:t>    </a:t>
            </a:r>
            <a:r>
              <a:rPr lang="en-US" sz="12800" dirty="0" err="1"/>
              <a:t>Im</a:t>
            </a:r>
            <a:r>
              <a:rPr lang="en-US" sz="12800" dirty="0"/>
              <a:t> </a:t>
            </a:r>
            <a:r>
              <a:rPr lang="en-US" sz="12800" b="1" dirty="0" err="1"/>
              <a:t>więcej</a:t>
            </a:r>
            <a:r>
              <a:rPr lang="en-US" sz="12800" b="1" dirty="0"/>
              <a:t> </a:t>
            </a:r>
            <a:r>
              <a:rPr lang="en-US" sz="12800" b="1" dirty="0" err="1"/>
              <a:t>cech</a:t>
            </a:r>
            <a:r>
              <a:rPr lang="en-US" sz="12800" b="1" dirty="0"/>
              <a:t> </a:t>
            </a:r>
            <a:r>
              <a:rPr lang="en-US" sz="12800" dirty="0" err="1"/>
              <a:t>opisuje</a:t>
            </a:r>
            <a:r>
              <a:rPr lang="en-US" sz="12800" dirty="0"/>
              <a:t> </a:t>
            </a:r>
            <a:r>
              <a:rPr lang="en-US" sz="12800" dirty="0" err="1"/>
              <a:t>kulturę</a:t>
            </a:r>
            <a:r>
              <a:rPr lang="en-US" sz="12800" dirty="0"/>
              <a:t>, </a:t>
            </a:r>
            <a:r>
              <a:rPr lang="en-US" sz="12800" dirty="0" err="1"/>
              <a:t>tym</a:t>
            </a:r>
            <a:r>
              <a:rPr lang="en-US" sz="12800" dirty="0"/>
              <a:t> </a:t>
            </a:r>
            <a:r>
              <a:rPr lang="en-US" sz="12800" b="1" dirty="0" err="1"/>
              <a:t>mniej</a:t>
            </a:r>
            <a:r>
              <a:rPr lang="en-US" sz="12800" b="1" dirty="0"/>
              <a:t> </a:t>
            </a:r>
            <a:r>
              <a:rPr lang="en-US" sz="12800" b="1" dirty="0" err="1"/>
              <a:t>stabilnych</a:t>
            </a:r>
            <a:r>
              <a:rPr lang="en-US" sz="12800" b="1" dirty="0"/>
              <a:t> </a:t>
            </a:r>
            <a:r>
              <a:rPr lang="en-US" sz="12800" b="1" dirty="0" err="1"/>
              <a:t>regionów</a:t>
            </a:r>
            <a:r>
              <a:rPr lang="en-US" sz="12800" b="1" dirty="0"/>
              <a:t> </a:t>
            </a:r>
            <a:r>
              <a:rPr lang="en-US" sz="12800" b="1" dirty="0" err="1"/>
              <a:t>kulturowych</a:t>
            </a:r>
            <a:r>
              <a:rPr lang="en-US" sz="12800" b="1" dirty="0"/>
              <a:t> </a:t>
            </a:r>
            <a:r>
              <a:rPr lang="en-US" sz="12800" dirty="0" err="1"/>
              <a:t>pozostaje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końcu</a:t>
            </a:r>
            <a:r>
              <a:rPr lang="en-US" sz="12800" dirty="0"/>
              <a:t> (</a:t>
            </a:r>
            <a:r>
              <a:rPr lang="en-US" sz="12800" dirty="0" err="1"/>
              <a:t>sprzeczne</a:t>
            </a:r>
            <a:r>
              <a:rPr lang="en-US" sz="12800" dirty="0"/>
              <a:t> z </a:t>
            </a:r>
            <a:r>
              <a:rPr lang="en-US" sz="12800" dirty="0" err="1"/>
              <a:t>intuicją</a:t>
            </a:r>
            <a:r>
              <a:rPr lang="en-US" sz="12800" dirty="0"/>
              <a:t>). </a:t>
            </a:r>
            <a:r>
              <a:rPr lang="en-US" sz="12800" dirty="0" err="1"/>
              <a:t>Dzieje</a:t>
            </a:r>
            <a:r>
              <a:rPr lang="en-US" sz="12800" dirty="0"/>
              <a:t> </a:t>
            </a:r>
            <a:r>
              <a:rPr lang="en-US" sz="12800" dirty="0" err="1"/>
              <a:t>się</a:t>
            </a:r>
            <a:r>
              <a:rPr lang="en-US" sz="12800" dirty="0"/>
              <a:t> </a:t>
            </a:r>
            <a:r>
              <a:rPr lang="en-US" sz="12800" dirty="0" err="1"/>
              <a:t>tak</a:t>
            </a:r>
            <a:r>
              <a:rPr lang="en-US" sz="12800" dirty="0"/>
              <a:t>, </a:t>
            </a:r>
            <a:r>
              <a:rPr lang="en-US" sz="12800" dirty="0" err="1"/>
              <a:t>ponieważ</a:t>
            </a:r>
            <a:r>
              <a:rPr lang="en-US" sz="12800" dirty="0"/>
              <a:t> </a:t>
            </a:r>
            <a:r>
              <a:rPr lang="en-US" sz="12800" dirty="0" err="1"/>
              <a:t>większa</a:t>
            </a:r>
            <a:r>
              <a:rPr lang="en-US" sz="12800" dirty="0"/>
              <a:t> </a:t>
            </a:r>
            <a:r>
              <a:rPr lang="en-US" sz="12800" dirty="0" err="1"/>
              <a:t>liczba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 </a:t>
            </a:r>
            <a:r>
              <a:rPr lang="en-US" sz="12800" dirty="0" err="1"/>
              <a:t>statystycznie</a:t>
            </a:r>
            <a:r>
              <a:rPr lang="pl-PL" sz="12800" dirty="0"/>
              <a:t> </a:t>
            </a:r>
            <a:r>
              <a:rPr lang="en-US" sz="12800" dirty="0" err="1"/>
              <a:t>zwiększa</a:t>
            </a:r>
            <a:r>
              <a:rPr lang="en-US" sz="12800" dirty="0"/>
              <a:t> </a:t>
            </a:r>
            <a:r>
              <a:rPr lang="en-US" sz="12800" dirty="0" err="1"/>
              <a:t>szansę</a:t>
            </a:r>
            <a:r>
              <a:rPr lang="en-US" sz="12800" dirty="0"/>
              <a:t> </a:t>
            </a:r>
            <a:r>
              <a:rPr lang="en-US" sz="12800" dirty="0" err="1"/>
              <a:t>posiadania</a:t>
            </a:r>
            <a:r>
              <a:rPr lang="en-US" sz="12800" dirty="0"/>
              <a:t> </a:t>
            </a:r>
            <a:r>
              <a:rPr lang="en-US" sz="12800" dirty="0" err="1"/>
              <a:t>jednego</a:t>
            </a:r>
            <a:r>
              <a:rPr lang="en-US" sz="12800" dirty="0"/>
              <a:t> </a:t>
            </a:r>
            <a:r>
              <a:rPr lang="en-US" sz="12800" dirty="0" err="1"/>
              <a:t>wspólnego</a:t>
            </a:r>
            <a:r>
              <a:rPr lang="en-US" sz="12800" dirty="0"/>
              <a:t> </a:t>
            </a:r>
            <a:r>
              <a:rPr lang="en-US" sz="12800" dirty="0" err="1"/>
              <a:t>elementu</a:t>
            </a:r>
            <a:r>
              <a:rPr lang="en-US" sz="12800" dirty="0"/>
              <a:t>, </a:t>
            </a:r>
            <a:r>
              <a:rPr lang="en-US" sz="12800" dirty="0" err="1"/>
              <a:t>czyli</a:t>
            </a:r>
            <a:r>
              <a:rPr lang="en-US" sz="12800" dirty="0"/>
              <a:t> </a:t>
            </a:r>
            <a:r>
              <a:rPr lang="en-US" sz="12800" dirty="0" err="1"/>
              <a:t>umożliwia</a:t>
            </a:r>
            <a:r>
              <a:rPr lang="en-US" sz="12800" dirty="0"/>
              <a:t> </a:t>
            </a:r>
            <a:r>
              <a:rPr lang="en-US" sz="12800" dirty="0" err="1"/>
              <a:t>interakcje</a:t>
            </a:r>
            <a:r>
              <a:rPr lang="pl-PL" sz="12800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dalsze</a:t>
            </a:r>
            <a:r>
              <a:rPr lang="en-US" sz="12800" dirty="0"/>
              <a:t> </a:t>
            </a:r>
            <a:r>
              <a:rPr lang="en-US" sz="12800" dirty="0" err="1"/>
              <a:t>zwiększanie</a:t>
            </a:r>
            <a:r>
              <a:rPr lang="en-US" sz="12800" dirty="0"/>
              <a:t> </a:t>
            </a:r>
            <a:r>
              <a:rPr lang="en-US" sz="12800" dirty="0" err="1"/>
              <a:t>liczby</a:t>
            </a:r>
            <a:r>
              <a:rPr lang="en-US" sz="12800" dirty="0"/>
              <a:t> </a:t>
            </a:r>
            <a:r>
              <a:rPr lang="en-US" sz="12800" dirty="0" err="1"/>
              <a:t>wspólnych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36752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516</Words>
  <Application>Microsoft Office PowerPoint</Application>
  <PresentationFormat>Panoramiczny</PresentationFormat>
  <Paragraphs>59</Paragraphs>
  <Slides>14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Motyw pakietu Office</vt:lpstr>
      <vt:lpstr>Model Axelroda Badanie wpływu homofilii na trwałość różnorodności kulturowej </vt:lpstr>
      <vt:lpstr>Tło historyczne</vt:lpstr>
      <vt:lpstr>Konstrukcja modelu</vt:lpstr>
      <vt:lpstr>Przebieg symulacji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Rozszerzenie modelu</vt:lpstr>
      <vt:lpstr>Prezentacja programu PowerPoint</vt:lpstr>
      <vt:lpstr>Prezentacja programu PowerPoint</vt:lpstr>
      <vt:lpstr>Rezultat rozszerzenia modelu</vt:lpstr>
      <vt:lpstr>Wnioski końcowe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Sopel (287417)</dc:creator>
  <cp:lastModifiedBy>Szymon Goździkowski</cp:lastModifiedBy>
  <cp:revision>9</cp:revision>
  <dcterms:created xsi:type="dcterms:W3CDTF">2026-06-19T16:25:08Z</dcterms:created>
  <dcterms:modified xsi:type="dcterms:W3CDTF">2026-06-24T15:50:14Z</dcterms:modified>
</cp:coreProperties>
</file>